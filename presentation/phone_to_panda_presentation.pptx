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Inter"/>
              </a:defRPr>
            </a:pPr>
            <a:r>
              <a:t>PERSONAL PHONE VIDEO → HAND MOTION → PANDA MANIPULATION</a:t>
            </a:r>
          </a:p>
          <a:p>
            <a:pPr>
              <a:spcBef>
                <a:spcPts val="1200"/>
              </a:spcBef>
              <a:defRPr sz="5200" b="1">
                <a:solidFill>
                  <a:srgbClr val="FFFFFF"/>
                </a:solidFill>
                <a:latin typeface="Inter"/>
              </a:defRPr>
            </a:pPr>
            <a:r>
              <a:t>Phone-to-Panda</a:t>
            </a:r>
          </a:p>
          <a:p>
            <a:pPr>
              <a:spcBef>
                <a:spcPts val="1200"/>
              </a:spcBef>
              <a:defRPr sz="2000">
                <a:solidFill>
                  <a:srgbClr val="94A3B8"/>
                </a:solidFill>
                <a:latin typeface="Inter"/>
              </a:defRPr>
            </a:pPr>
            <a:r>
              <a:t>Data-Efficient Human-to-Robot Retargeting from Self-Collected Hand Motion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5303520"/>
            <a:ext cx="5943600" cy="4572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8BDF8"/>
                </a:solidFill>
                <a:latin typeface="Inter"/>
              </a:defRPr>
            </a:pPr>
            <a:r>
              <a:t>Google Colab  •  Python  •  MediaPipe  •  MuJoCo 3.15.0  •  Franka Panda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The challenge and the design choice</a:t>
            </a:r>
          </a:p>
          <a:p>
            <a:pPr>
              <a:spcBef>
                <a:spcPts val="4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t>Translating personally collected human demonstrations to robotic execution.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100" b="1">
                <a:solidFill>
                  <a:srgbClr val="0284C7"/>
                </a:solidFill>
                <a:latin typeface="Inter"/>
              </a:defRPr>
            </a:pPr>
            <a:r>
              <a:t>PERSONAL DATA</a:t>
            </a:r>
          </a:p>
          <a:p>
            <a:pPr>
              <a:spcBef>
                <a:spcPts val="600"/>
              </a:spcBef>
              <a:defRPr sz="2000" b="1">
                <a:solidFill>
                  <a:srgbClr val="0F172A"/>
                </a:solidFill>
                <a:latin typeface="Inter"/>
              </a:defRPr>
            </a:pPr>
            <a:r>
              <a:t>12 videos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Inter"/>
              </a:defRPr>
            </a:pPr>
            <a:r>
              <a:t>Recorded using a phone camera showing side-profile manipulation of an orange cube and wooden box.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100" b="1">
                <a:solidFill>
                  <a:srgbClr val="0284C7"/>
                </a:solidFill>
                <a:latin typeface="Inter"/>
              </a:defRPr>
            </a:pPr>
            <a:r>
              <a:t>ROBOTIC TASK</a:t>
            </a:r>
          </a:p>
          <a:p>
            <a:pPr>
              <a:spcBef>
                <a:spcPts val="600"/>
              </a:spcBef>
              <a:defRPr sz="2000" b="1">
                <a:solidFill>
                  <a:srgbClr val="0F172A"/>
                </a:solidFill>
                <a:latin typeface="Inter"/>
              </a:defRPr>
            </a:pPr>
            <a:r>
              <a:t>Pick → carry → release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Inter"/>
              </a:defRPr>
            </a:pPr>
            <a:r>
              <a:t>Executing a structured pick-and-place sequence in MuJoCo simulation with the Franka Panda arm.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100" b="1">
                <a:solidFill>
                  <a:srgbClr val="0284C7"/>
                </a:solidFill>
                <a:latin typeface="Inter"/>
              </a:defRPr>
            </a:pPr>
            <a:r>
              <a:t>CORE IDEA</a:t>
            </a:r>
          </a:p>
          <a:p>
            <a:pPr>
              <a:spcBef>
                <a:spcPts val="600"/>
              </a:spcBef>
              <a:defRPr sz="2000" b="1">
                <a:solidFill>
                  <a:srgbClr val="0F172A"/>
                </a:solidFill>
                <a:latin typeface="Inter"/>
              </a:defRPr>
            </a:pPr>
            <a:r>
              <a:t>Retarget human motion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Inter"/>
              </a:defRPr>
            </a:pPr>
            <a:r>
              <a:t>Directly mapping wrist position and pinch distance to Cartesian targets without large learned policy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10716768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Design Rationale &amp; Simplicity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The five-finger human hand is intentionally reduced to wrist position plus a pinch/open signal. This avoids complex multi-joint direct kinematic mapping and enables robust transfer to a different robotic embodiment without requiring large learned policy models or black-box neural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Personal dataset</a:t>
            </a:r>
          </a:p>
          <a:p>
            <a:pPr>
              <a:spcBef>
                <a:spcPts val="4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t>The final demonstration uses one of 12 self-recorded phone videos.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200" b="1">
                <a:solidFill>
                  <a:srgbClr val="0284C7"/>
                </a:solidFill>
                <a:latin typeface="Inter"/>
              </a:defRPr>
            </a:pPr>
            <a:r>
              <a:t>12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Videos Collected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Self-recorded side-profile phone videos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64592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200" b="1">
                <a:solidFill>
                  <a:srgbClr val="0284C7"/>
                </a:solidFill>
                <a:latin typeface="Inter"/>
              </a:defRPr>
            </a:pPr>
            <a:r>
              <a:t>267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Source Frames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Total frames in demonstration video IMG_2343.MOV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200" b="1">
                <a:solidFill>
                  <a:srgbClr val="0284C7"/>
                </a:solidFill>
                <a:latin typeface="Inter"/>
              </a:defRPr>
            </a:pPr>
            <a:r>
              <a:t>30 FPS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Frame Rate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Standard high-definition capture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200" b="1">
                <a:solidFill>
                  <a:srgbClr val="0284C7"/>
                </a:solidFill>
                <a:latin typeface="Inter"/>
              </a:defRPr>
            </a:pPr>
            <a:r>
              <a:t>8.9 s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Duration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Complete demonstration time span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65760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200" b="1">
                <a:solidFill>
                  <a:srgbClr val="0284C7"/>
                </a:solidFill>
                <a:latin typeface="Inter"/>
              </a:defRPr>
            </a:pPr>
            <a:r>
              <a:t>155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Detected Frames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Frames with successful MediaPipe hand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65760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200" b="1">
                <a:solidFill>
                  <a:srgbClr val="0284C7"/>
                </a:solidFill>
                <a:latin typeface="Inter"/>
              </a:defRPr>
            </a:pPr>
            <a:r>
              <a:t>58.05%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Detection Rate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Robust tracking efficiency across source video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10716768" cy="82296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12E81"/>
                </a:solidFill>
                <a:latin typeface="Inter"/>
              </a:defRPr>
            </a:pPr>
            <a:r>
              <a:t>Data Management Note: Original personal videos remain private. The public project repository uses derived landmark/trajectory CSVs and final simulation outputs rather than raw video assets.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From phone video to robot trajectory</a:t>
            </a:r>
          </a:p>
          <a:p>
            <a:pPr>
              <a:spcBef>
                <a:spcPts val="4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t>A robust four-stage transformation pipeline.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2800" b="1">
                <a:solidFill>
                  <a:srgbClr val="D97706"/>
                </a:solidFill>
                <a:latin typeface="Inter"/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Inter"/>
              </a:defRPr>
            </a:pPr>
            <a:r>
              <a:t>MediaPipe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Inter"/>
              </a:defRPr>
            </a:pPr>
            <a:r>
              <a:t>Extracts up to 21 hand landmarks per detected frame from video.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2800" b="1">
                <a:solidFill>
                  <a:srgbClr val="D97706"/>
                </a:solidFill>
                <a:latin typeface="Inter"/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Inter"/>
              </a:defRPr>
            </a:pPr>
            <a:r>
              <a:t>Features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Inter"/>
              </a:defRPr>
            </a:pPr>
            <a:r>
              <a:t>Reduces high-dim hand representation to wrist X/Y + pinch distance.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2800" b="1">
                <a:solidFill>
                  <a:srgbClr val="D97706"/>
                </a:solidFill>
                <a:latin typeface="Inter"/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Inter"/>
              </a:defRPr>
            </a:pPr>
            <a:r>
              <a:t>Events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Inter"/>
              </a:defRPr>
            </a:pPr>
            <a:r>
              <a:t>Analyzes adaptive pinch threshold to detect grasp (~4.47s) and release (~6.47s).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2800" b="1">
                <a:solidFill>
                  <a:srgbClr val="D97706"/>
                </a:solidFill>
                <a:latin typeface="Inter"/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Inter"/>
              </a:defRPr>
            </a:pPr>
            <a:r>
              <a:t>Retargeting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Inter"/>
              </a:defRPr>
            </a:pPr>
            <a:r>
              <a:t>Maps human progress between start/end Cartesian positions into 25 samples.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12080"/>
            <a:ext cx="10716768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Key Architectural Decision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The human signal controls motion progress, not raw robot joint angles. This decoupled approach ensures absolute stability and prevents dangerous kinematic singularities during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MuJoCo Panda manipulation</a:t>
            </a:r>
          </a:p>
          <a:p>
            <a:pPr>
              <a:spcBef>
                <a:spcPts val="4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t>Executing the pick-and-place task in MuJoCo 3.15.0 simulation.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400" b="1">
                <a:solidFill>
                  <a:srgbClr val="0284C7"/>
                </a:solidFill>
                <a:latin typeface="Inter"/>
              </a:defRPr>
            </a:pPr>
            <a:r>
              <a:t>1. GRASP</a:t>
            </a:r>
          </a:p>
          <a:p>
            <a:pPr>
              <a:spcBef>
                <a:spcPts val="2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Move Panda hand to mapped grasp point [0.4354, 0.0, 0.4050] 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400" b="1">
                <a:solidFill>
                  <a:srgbClr val="0284C7"/>
                </a:solidFill>
                <a:latin typeface="Inter"/>
              </a:defRPr>
            </a:pPr>
            <a:r>
              <a:t>2. CARRY</a:t>
            </a:r>
          </a:p>
          <a:p>
            <a:pPr>
              <a:spcBef>
                <a:spcPts val="2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Follow the 25 retargeted trajectory points smoothly.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400" b="1">
                <a:solidFill>
                  <a:srgbClr val="0284C7"/>
                </a:solidFill>
                <a:latin typeface="Inter"/>
              </a:defRPr>
            </a:pPr>
            <a:r>
              <a:t>3. RELEASE</a:t>
            </a:r>
          </a:p>
          <a:p>
            <a:pPr>
              <a:spcBef>
                <a:spcPts val="2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Move above target box and open gripper.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1208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400" b="1">
                <a:solidFill>
                  <a:srgbClr val="0284C7"/>
                </a:solidFill>
                <a:latin typeface="Inter"/>
              </a:defRPr>
            </a:pPr>
            <a:r>
              <a:t>4. PLACE</a:t>
            </a:r>
          </a:p>
          <a:p>
            <a:pPr>
              <a:spcBef>
                <a:spcPts val="2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Perform controlled cube descent into green target 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30368" cy="438912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defRPr sz="1200" b="1">
                <a:solidFill>
                  <a:srgbClr val="38BDF8"/>
                </a:solidFill>
                <a:latin typeface="Inter"/>
              </a:defRPr>
            </a:pPr>
            <a:r>
              <a:t>SIMULATION ENVIRONMENT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  <a:latin typeface="Inter"/>
              </a:defRPr>
            </a:pPr>
            <a:r>
              <a:t>Franka Emika Panda &amp; MuJoCo 3.15.0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• Robot starts from joint config [0, -0.5, 0, -2, 0, 1.5, 0.7]</a:t>
            </a:r>
            <a:br/>
            <a:r>
              <a:t>• Uses damped Jacobian inverse kinematics (sub-millimetre IK error: 0.198 mm)</a:t>
            </a:r>
            <a:br/>
            <a:r>
              <a:t>• Simplified deterministic grasp model: Cube follows hand while grasped to isolate retargeting from contact physics instability.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Results</a:t>
            </a:r>
          </a:p>
          <a:p>
            <a:pPr>
              <a:spcBef>
                <a:spcPts val="4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t>The final complete run successfully completed the pick-and-place task.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000" b="1">
                <a:solidFill>
                  <a:srgbClr val="0284C7"/>
                </a:solidFill>
                <a:latin typeface="Inter"/>
              </a:defRPr>
            </a:pPr>
            <a:r>
              <a:t>25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Retargeted Samples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Extracted trajectory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64592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000" b="1">
                <a:solidFill>
                  <a:srgbClr val="0284C7"/>
                </a:solidFill>
                <a:latin typeface="Inter"/>
              </a:defRPr>
            </a:pPr>
            <a:r>
              <a:t>145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Simulation States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Total states in final 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000" b="1">
                <a:solidFill>
                  <a:srgbClr val="16A34A"/>
                </a:solidFill>
                <a:latin typeface="Inter"/>
              </a:defRPr>
            </a:pPr>
            <a:r>
              <a:t>0.198 mm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Grasp-Target Error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High precision target reaching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000" b="1">
                <a:solidFill>
                  <a:srgbClr val="16A34A"/>
                </a:solidFill>
                <a:latin typeface="Inter"/>
              </a:defRPr>
            </a:pPr>
            <a:r>
              <a:t>0.000 mm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Horizontal Error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Final X-Y placement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65760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000" b="1">
                <a:solidFill>
                  <a:srgbClr val="16A34A"/>
                </a:solidFill>
                <a:latin typeface="Inter"/>
              </a:defRPr>
            </a:pPr>
            <a:r>
              <a:t>0.000 mm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Vertical Error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Final Z placement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657600"/>
            <a:ext cx="3328416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000" b="1">
                <a:solidFill>
                  <a:srgbClr val="16A34A"/>
                </a:solidFill>
                <a:latin typeface="Inter"/>
              </a:defRPr>
            </a:pPr>
            <a:r>
              <a:t>TRUE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Task Success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Cube successfully placed in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10716768" cy="82296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6534"/>
                </a:solidFill>
                <a:latin typeface="Inter"/>
              </a:defRPr>
            </a:pPr>
            <a:r>
              <a:t>Final Cube Position: [0.55, 0.10, 0.355] m  |  Box Centre: [0.55, 0.10, 0.36] m  —  Cube confirmed inside target 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What worked — and what did not</a:t>
            </a:r>
          </a:p>
          <a:p>
            <a:pPr>
              <a:spcBef>
                <a:spcPts val="4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t>Honest engineering assessment of system capabilities and limitations.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16A34A"/>
                </a:solidFill>
                <a:latin typeface="Inter"/>
              </a:defRPr>
            </a:pPr>
            <a:r>
              <a:t>WHAT WORKED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• Personal phone data directly dictates robot trajectory.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• MediaPipe provides an inexpensive, robust hand motion extractor.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• Pinch distance gives a clean, interpretable grasp/release signal.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• Damped Jacobian IK reaches target with sub-millimetre error.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• Lightweight implementation runs seamlessly in Google Colab.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D97706"/>
                </a:solidFill>
                <a:latin typeface="Inter"/>
              </a:defRPr>
            </a:pPr>
            <a:r>
              <a:t>LIMITATIONS &amp; TRADEOFFS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• Hand detection rate of 58.05% due to occasional occlusion.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• Simplified grasp mechanism rather than contact-rich physics.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• No large VLA model, reinforcement learning, or world model.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• Embodiment abstracted to wrist trajectory + gripper state.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Inter"/>
              </a:defRPr>
            </a:pPr>
            <a:r>
              <a:t>• Simulation demonstrates retargeting rather than physics grasping.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Inter"/>
              </a:defRPr>
            </a:pPr>
            <a:r>
              <a:t>CONCLUSION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Inter"/>
              </a:defRPr>
            </a:pPr>
            <a:r>
              <a:t>A small personal dataset can drive a meaningful robotics signal.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  <a:latin typeface="Inter"/>
              </a:defRPr>
            </a:pPr>
            <a:r>
              <a:t>Phone video  →  Hand landmarks  →  Grasp signal  →  Retargeted Panda motion  →  Successful placement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The contribution is not model size. It is a simple, reproducible way to make personally collected human data drive a different robotic embodiment.</a:t>
            </a:r>
          </a:p>
          <a:p>
            <a:pPr algn="ctr">
              <a:spcBef>
                <a:spcPts val="800"/>
              </a:spcBef>
              <a:defRPr sz="1300">
                <a:solidFill>
                  <a:srgbClr val="38BDF8"/>
                </a:solidFill>
                <a:latin typeface="Inter"/>
              </a:defRPr>
            </a:pPr>
            <a:r>
              <a:t>Repository: phone-to-panda  |  README + notebook + source + derived data +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